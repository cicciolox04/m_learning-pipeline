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Space Mono"/>
      <p:regular r:id="rId17"/>
      <p:bold r:id="rId18"/>
      <p:italic r:id="rId19"/>
      <p:boldItalic r:id="rId20"/>
    </p:embeddedFont>
    <p:embeddedFont>
      <p:font typeface="Urbanist SemiBold"/>
      <p:regular r:id="rId21"/>
      <p:bold r:id="rId22"/>
      <p:italic r:id="rId23"/>
      <p:boldItalic r:id="rId24"/>
    </p:embeddedFont>
    <p:embeddedFont>
      <p:font typeface="Urbanis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780B0A-8E36-42D6-A9FF-41DC0A9F4FF2}">
  <a:tblStyle styleId="{F0780B0A-8E36-42D6-A9FF-41DC0A9F4F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Mono-boldItalic.fntdata"/><Relationship Id="rId22" Type="http://schemas.openxmlformats.org/officeDocument/2006/relationships/font" Target="fonts/UrbanistSemiBold-bold.fntdata"/><Relationship Id="rId21" Type="http://schemas.openxmlformats.org/officeDocument/2006/relationships/font" Target="fonts/UrbanistSemiBold-regular.fntdata"/><Relationship Id="rId24" Type="http://schemas.openxmlformats.org/officeDocument/2006/relationships/font" Target="fonts/UrbanistSemiBold-boldItalic.fntdata"/><Relationship Id="rId23" Type="http://schemas.openxmlformats.org/officeDocument/2006/relationships/font" Target="fonts/Urbanist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.fntdata"/><Relationship Id="rId25" Type="http://schemas.openxmlformats.org/officeDocument/2006/relationships/font" Target="fonts/Urbanist-regular.fntdata"/><Relationship Id="rId28" Type="http://schemas.openxmlformats.org/officeDocument/2006/relationships/font" Target="fonts/Urbanist-boldItalic.fntdata"/><Relationship Id="rId27" Type="http://schemas.openxmlformats.org/officeDocument/2006/relationships/font" Target="fonts/Urbanis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SpaceMono-regular.fntdata"/><Relationship Id="rId16" Type="http://schemas.openxmlformats.org/officeDocument/2006/relationships/slide" Target="slides/slide10.xml"/><Relationship Id="rId19" Type="http://schemas.openxmlformats.org/officeDocument/2006/relationships/font" Target="fonts/SpaceMono-italic.fntdata"/><Relationship Id="rId18" Type="http://schemas.openxmlformats.org/officeDocument/2006/relationships/font" Target="fonts/SpaceMon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53d671aa1_1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53d671aa1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81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5612" y="3979515"/>
            <a:ext cx="6200775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30379" y="2030759"/>
            <a:ext cx="9931241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RILEVAMENTO ATTACCHI DDOS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66837" y="2954684"/>
            <a:ext cx="94583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Space Mono"/>
                <a:ea typeface="Space Mono"/>
                <a:cs typeface="Space Mono"/>
                <a:sym typeface="Space Mono"/>
              </a:rPr>
              <a:t>Sistemi Intelligenti per la Comunicazione Digitale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995612" y="4370040"/>
            <a:ext cx="62007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Implementazione di una pipeline di Machine Learning per la cybersecurity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675284" y="3340900"/>
            <a:ext cx="4841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lt1"/>
                </a:solidFill>
              </a:rPr>
              <a:t>Trani Francesco, 801860</a:t>
            </a:r>
            <a:endParaRPr i="1"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814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2246805"/>
            <a:ext cx="560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Task di Classificazione</a:t>
            </a:r>
            <a:r>
              <a:rPr lang="en-US" sz="280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binaria</a:t>
            </a:r>
            <a:endParaRPr sz="2100"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921816"/>
            <a:ext cx="5334000" cy="17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Sviluppo di un sistema intelligente capace di discriminare autonomamente il traffico di rete legittimo dai tentativi di attacco </a:t>
            </a:r>
            <a:r>
              <a:rPr b="1" i="0" lang="en-US" sz="2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Distributed Denial of Service (DDoS)</a:t>
            </a:r>
            <a:r>
              <a:rPr b="0" i="0" lang="en-US" sz="2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100"/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919311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L'Obiettivo: Smascherare il DDoS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4" title="Botnet_Attac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8139" y="2040172"/>
            <a:ext cx="5177400" cy="3541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F2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814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50331"/>
            <a:ext cx="5334000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50331"/>
            <a:ext cx="5334000" cy="27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866775" y="2912747"/>
            <a:ext cx="498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Standard Accademico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66700" y="3429000"/>
            <a:ext cx="4743600" cy="1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Utilizzo del dataset </a:t>
            </a:r>
            <a:r>
              <a:rPr b="1" i="0" lang="en-US" sz="19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CICIDS2017</a:t>
            </a:r>
            <a:r>
              <a:rPr b="0" i="0" lang="en-US" sz="19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punto di riferimento per i sistemi IDS. Analisi del traffico "Friday-WorkingHours" contenente flussi DDoS reali e variegati.</a:t>
            </a:r>
            <a:endParaRPr sz="1800"/>
          </a:p>
        </p:txBody>
      </p:sp>
      <p:sp>
        <p:nvSpPr>
          <p:cNvPr id="109" name="Google Shape;109;p15"/>
          <p:cNvSpPr txBox="1"/>
          <p:nvPr/>
        </p:nvSpPr>
        <p:spPr>
          <a:xfrm>
            <a:off x="6581775" y="2912381"/>
            <a:ext cx="498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Dimensioni Dataset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581775" y="3429006"/>
            <a:ext cx="47436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Oltre </a:t>
            </a:r>
            <a:r>
              <a:rPr b="1" i="0" lang="en-US" sz="19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225.000 istanze</a:t>
            </a:r>
            <a:r>
              <a:rPr b="0" i="0" lang="en-US" sz="19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79 feature iniziali che descrivono meticolosamente ogni aspetto statistico delle connessioni TCP/IP.</a:t>
            </a:r>
            <a:endParaRPr sz="1800"/>
          </a:p>
        </p:txBody>
      </p:sp>
      <p:sp>
        <p:nvSpPr>
          <p:cNvPr id="111" name="Google Shape;111;p15"/>
          <p:cNvSpPr txBox="1"/>
          <p:nvPr/>
        </p:nvSpPr>
        <p:spPr>
          <a:xfrm>
            <a:off x="762000" y="919311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I Dati: CICIDS2017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814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4373825" y="1391675"/>
            <a:ext cx="7630500" cy="19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Il dataset risulta sostanzialmente bilanciato. La scelta metodologica è stata quella di preservare i dati originali senza ricorrere a tecniche di oversampling sintetico (SMOTE).</a:t>
            </a:r>
            <a:endParaRPr sz="2300"/>
          </a:p>
        </p:txBody>
      </p:sp>
      <p:sp>
        <p:nvSpPr>
          <p:cNvPr id="119" name="Google Shape;119;p16"/>
          <p:cNvSpPr txBox="1"/>
          <p:nvPr/>
        </p:nvSpPr>
        <p:spPr>
          <a:xfrm>
            <a:off x="762000" y="499975"/>
            <a:ext cx="6411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Fase 1: </a:t>
            </a:r>
            <a:r>
              <a:rPr b="1" i="0" lang="en-US" sz="3300" u="none" cap="none" strike="noStrike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Analisi Distribuzione Classi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571500" y="499986"/>
            <a:ext cx="57300" cy="5049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6" title="Screenshot 2026-05-28 1813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662" y="3696375"/>
            <a:ext cx="10846674" cy="29713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2" name="Google Shape;122;p16" title="Points sco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600" y="1053560"/>
            <a:ext cx="4200225" cy="259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814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373" y="2200214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1661" y="3987404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1661" y="5727809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762000" y="709235"/>
            <a:ext cx="505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Fase 2: </a:t>
            </a:r>
            <a:r>
              <a:rPr b="1" i="0" lang="en-US" sz="3300" u="none" cap="none" strike="noStrike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Pre-processing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571500" y="709246"/>
            <a:ext cx="57300" cy="5049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3" name="Google Shape;13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1186" y="1627672"/>
            <a:ext cx="7378325" cy="130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1193696" y="1785954"/>
            <a:ext cx="16284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26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 Cleaning</a:t>
            </a:r>
            <a:endParaRPr sz="1364"/>
          </a:p>
        </p:txBody>
      </p:sp>
      <p:sp>
        <p:nvSpPr>
          <p:cNvPr id="135" name="Google Shape;135;p17"/>
          <p:cNvSpPr txBox="1"/>
          <p:nvPr/>
        </p:nvSpPr>
        <p:spPr>
          <a:xfrm>
            <a:off x="1193635" y="2200227"/>
            <a:ext cx="6893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485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Rimozione mirata di valori NaN e Infiniti (68 occorrenze) per garantire la convergenza degli algoritmi.</a:t>
            </a:r>
            <a:endParaRPr sz="1605"/>
          </a:p>
        </p:txBody>
      </p:sp>
      <p:pic>
        <p:nvPicPr>
          <p:cNvPr descr="image.png" id="136" name="Google Shape;13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0625" y="3414825"/>
            <a:ext cx="7328875" cy="130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1243143" y="3573105"/>
            <a:ext cx="16284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26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Stratified Split</a:t>
            </a:r>
            <a:endParaRPr sz="1364"/>
          </a:p>
        </p:txBody>
      </p:sp>
      <p:sp>
        <p:nvSpPr>
          <p:cNvPr id="138" name="Google Shape;138;p17"/>
          <p:cNvSpPr txBox="1"/>
          <p:nvPr/>
        </p:nvSpPr>
        <p:spPr>
          <a:xfrm>
            <a:off x="1243083" y="3987390"/>
            <a:ext cx="64614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65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Suddivisione 70/30 (Train/Test) mantenendo costante la proporzione delle classi per una valutazione onesta.</a:t>
            </a:r>
            <a:endParaRPr sz="1364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6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139" name="Google Shape;13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0625" y="5201975"/>
            <a:ext cx="7328875" cy="130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1243136" y="5360247"/>
            <a:ext cx="19707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26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Feature Selection</a:t>
            </a:r>
            <a:endParaRPr sz="1364"/>
          </a:p>
        </p:txBody>
      </p:sp>
      <p:sp>
        <p:nvSpPr>
          <p:cNvPr id="141" name="Google Shape;141;p17"/>
          <p:cNvSpPr txBox="1"/>
          <p:nvPr/>
        </p:nvSpPr>
        <p:spPr>
          <a:xfrm>
            <a:off x="1243086" y="5774523"/>
            <a:ext cx="6893400" cy="9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Applicazione del Filter Method tramite </a:t>
            </a:r>
            <a:r>
              <a:rPr i="1"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Mutual Information</a:t>
            </a: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(Information Gain) per ridurre la complessità.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5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42" name="Google Shape;142;p17" title="Screenshot 2026-05-28 181445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778145" y="709225"/>
            <a:ext cx="3311360" cy="1134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3" name="Google Shape;143;p17" title="Screenshot 2026-05-28 181503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778149" y="2082350"/>
            <a:ext cx="3311350" cy="449991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814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05136"/>
            <a:ext cx="11049000" cy="448136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71500" y="5197375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La Mutual Information evidenzia come il volume e la dimensione dei pacchetti siano i discriminanti principali della "firma" di un attacco DDoS.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762000" y="919311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Top Informative Features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814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571500" y="1972863"/>
            <a:ext cx="41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Decision Tree e GridSearch</a:t>
            </a:r>
            <a:endParaRPr sz="1900"/>
          </a:p>
        </p:txBody>
      </p:sp>
      <p:sp>
        <p:nvSpPr>
          <p:cNvPr id="159" name="Google Shape;159;p19"/>
          <p:cNvSpPr txBox="1"/>
          <p:nvPr/>
        </p:nvSpPr>
        <p:spPr>
          <a:xfrm>
            <a:off x="762000" y="919311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Fase 3: Addestramento e Ottimizzazione</a:t>
            </a:r>
            <a:r>
              <a:rPr b="1" i="0" lang="en-US" sz="3300" u="none" cap="none" strike="noStrike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571500" y="2566300"/>
            <a:ext cx="4965600" cy="3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Ottimo compromesso tra prestazioni e </a:t>
            </a:r>
            <a:r>
              <a:rPr b="1" lang="en-US" sz="19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interpretabilità</a:t>
            </a:r>
            <a:r>
              <a:rPr lang="en-US" sz="19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9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Ottimizzazione degli iperparametri attraverso la </a:t>
            </a:r>
            <a:r>
              <a:rPr b="1" lang="en-US" sz="19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GridSearchCV </a:t>
            </a:r>
            <a:r>
              <a:rPr lang="en-US" sz="19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(5-fold-cv):</a:t>
            </a:r>
            <a:endParaRPr sz="19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Clr>
                <a:srgbClr val="CBD5E1"/>
              </a:buClr>
              <a:buSzPts val="1900"/>
              <a:buFont typeface="Urbanist"/>
              <a:buChar char="●"/>
            </a:pPr>
            <a:r>
              <a:rPr b="1" lang="en-US" sz="19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Criterion</a:t>
            </a:r>
            <a:r>
              <a:rPr lang="en-US" sz="19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Entropy</a:t>
            </a:r>
            <a:endParaRPr sz="19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Clr>
                <a:srgbClr val="CBD5E1"/>
              </a:buClr>
              <a:buSzPts val="1900"/>
              <a:buFont typeface="Urbanist"/>
              <a:buChar char="●"/>
            </a:pPr>
            <a:r>
              <a:rPr b="1" lang="en-US" sz="19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Max-Depth</a:t>
            </a:r>
            <a:r>
              <a:rPr lang="en-US" sz="19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15</a:t>
            </a:r>
            <a:endParaRPr sz="19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Clr>
                <a:srgbClr val="CBD5E1"/>
              </a:buClr>
              <a:buSzPts val="1900"/>
              <a:buFont typeface="Urbanist"/>
              <a:buChar char="●"/>
            </a:pPr>
            <a:r>
              <a:rPr b="1" lang="en-US" sz="19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Min-Samples-Split</a:t>
            </a:r>
            <a:r>
              <a:rPr lang="en-US" sz="19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2</a:t>
            </a:r>
            <a:endParaRPr sz="19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62" name="Google Shape;162;p19" title="Screenshot 2026-05-28 18433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7095" y="1972875"/>
            <a:ext cx="6125323" cy="389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814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83668"/>
            <a:ext cx="35242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683668"/>
            <a:ext cx="35242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683668"/>
            <a:ext cx="3524250" cy="2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743601" y="3044093"/>
            <a:ext cx="3180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Precision</a:t>
            </a:r>
            <a:endParaRPr sz="1800"/>
          </a:p>
        </p:txBody>
      </p:sp>
      <p:sp>
        <p:nvSpPr>
          <p:cNvPr id="172" name="Google Shape;172;p20"/>
          <p:cNvSpPr txBox="1"/>
          <p:nvPr/>
        </p:nvSpPr>
        <p:spPr>
          <a:xfrm>
            <a:off x="819200" y="3655733"/>
            <a:ext cx="30291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Capacità di non classificare come DDoS il traffico legittimo (riduzione falsi positivi).</a:t>
            </a:r>
            <a:endParaRPr sz="1700"/>
          </a:p>
        </p:txBody>
      </p:sp>
      <p:sp>
        <p:nvSpPr>
          <p:cNvPr id="173" name="Google Shape;173;p20"/>
          <p:cNvSpPr txBox="1"/>
          <p:nvPr/>
        </p:nvSpPr>
        <p:spPr>
          <a:xfrm>
            <a:off x="4505976" y="3044093"/>
            <a:ext cx="3180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Recall</a:t>
            </a:r>
            <a:endParaRPr sz="1800"/>
          </a:p>
        </p:txBody>
      </p:sp>
      <p:sp>
        <p:nvSpPr>
          <p:cNvPr id="174" name="Google Shape;174;p20"/>
          <p:cNvSpPr txBox="1"/>
          <p:nvPr/>
        </p:nvSpPr>
        <p:spPr>
          <a:xfrm>
            <a:off x="4581575" y="3655733"/>
            <a:ext cx="30291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Capacità di individuare tutti i flussi DDoS attivi (riduzione falsi negativi).</a:t>
            </a:r>
            <a:endParaRPr sz="1700"/>
          </a:p>
        </p:txBody>
      </p:sp>
      <p:sp>
        <p:nvSpPr>
          <p:cNvPr id="175" name="Google Shape;175;p20"/>
          <p:cNvSpPr txBox="1"/>
          <p:nvPr/>
        </p:nvSpPr>
        <p:spPr>
          <a:xfrm>
            <a:off x="8268351" y="3044093"/>
            <a:ext cx="3180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F1-Score</a:t>
            </a:r>
            <a:endParaRPr sz="1800"/>
          </a:p>
        </p:txBody>
      </p:sp>
      <p:sp>
        <p:nvSpPr>
          <p:cNvPr id="176" name="Google Shape;176;p20"/>
          <p:cNvSpPr txBox="1"/>
          <p:nvPr/>
        </p:nvSpPr>
        <p:spPr>
          <a:xfrm>
            <a:off x="8343950" y="3655733"/>
            <a:ext cx="30291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Media armonica tra Precision e Recall. Nostro indicatore principale di performance.</a:t>
            </a:r>
            <a:endParaRPr sz="1700"/>
          </a:p>
        </p:txBody>
      </p:sp>
      <p:sp>
        <p:nvSpPr>
          <p:cNvPr id="177" name="Google Shape;177;p20"/>
          <p:cNvSpPr txBox="1"/>
          <p:nvPr/>
        </p:nvSpPr>
        <p:spPr>
          <a:xfrm>
            <a:off x="762000" y="919311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Fase 4: </a:t>
            </a:r>
            <a:r>
              <a:rPr b="1" i="0" lang="en-US" sz="3300" u="none" cap="none" strike="noStrike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Valutazione sul Test Set</a:t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254150" y="1834700"/>
            <a:ext cx="4014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Metriche di Valutazione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571500" y="5546312"/>
            <a:ext cx="110490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Il modello dimostra una capacità quasi perfetta di isolamento degli attacchi, validata dalla coerenza tra Training e Test Set.</a:t>
            </a:r>
            <a:endParaRPr sz="2300"/>
          </a:p>
        </p:txBody>
      </p:sp>
      <p:sp>
        <p:nvSpPr>
          <p:cNvPr id="186" name="Google Shape;186;p21"/>
          <p:cNvSpPr txBox="1"/>
          <p:nvPr/>
        </p:nvSpPr>
        <p:spPr>
          <a:xfrm>
            <a:off x="762000" y="919311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Risultati Finali Ottenuti</a:t>
            </a:r>
            <a:endParaRPr/>
          </a:p>
        </p:txBody>
      </p:sp>
      <p:sp>
        <p:nvSpPr>
          <p:cNvPr id="187" name="Google Shape;187;p21"/>
          <p:cNvSpPr/>
          <p:nvPr/>
        </p:nvSpPr>
        <p:spPr>
          <a:xfrm>
            <a:off x="571500" y="919311"/>
            <a:ext cx="57300" cy="5049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8" name="Google Shape;188;p21"/>
          <p:cNvGraphicFramePr/>
          <p:nvPr/>
        </p:nvGraphicFramePr>
        <p:xfrm>
          <a:off x="1014300" y="256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{F0780B0A-8E36-42D6-A9FF-41DC0A9F4FF2}</a:tableStyleId>
              </a:tblPr>
              <a:tblGrid>
                <a:gridCol w="1484375"/>
                <a:gridCol w="1113650"/>
                <a:gridCol w="928325"/>
                <a:gridCol w="1175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Classe</a:t>
                      </a:r>
                      <a:endParaRPr b="1" sz="18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solidFill>
                      <a:srgbClr val="00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Precision</a:t>
                      </a:r>
                      <a:endParaRPr b="1" sz="18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solidFill>
                      <a:srgbClr val="00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Recall</a:t>
                      </a:r>
                      <a:endParaRPr b="1" sz="18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solidFill>
                      <a:srgbClr val="00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F1-Score</a:t>
                      </a:r>
                      <a:endParaRPr b="1" sz="18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solidFill>
                      <a:srgbClr val="00F2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DDoS</a:t>
                      </a:r>
                      <a:endParaRPr b="1" sz="17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0.9999</a:t>
                      </a:r>
                      <a:endParaRPr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0.9997</a:t>
                      </a:r>
                      <a:endParaRPr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0.9998</a:t>
                      </a:r>
                      <a:endParaRPr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Benign</a:t>
                      </a:r>
                      <a:endParaRPr b="1" sz="17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solidFill>
                      <a:srgbClr val="00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0.9996</a:t>
                      </a:r>
                      <a:endParaRPr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solidFill>
                      <a:srgbClr val="00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0.9999</a:t>
                      </a:r>
                      <a:endParaRPr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solidFill>
                      <a:srgbClr val="00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0.9998</a:t>
                      </a:r>
                      <a:endParaRPr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solidFill>
                      <a:srgbClr val="00F2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OVERALL (accuracy)</a:t>
                      </a:r>
                      <a:endParaRPr b="1" sz="17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0.9998</a:t>
                      </a:r>
                      <a:endParaRPr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sp>
        <p:nvSpPr>
          <p:cNvPr id="189" name="Google Shape;189;p21"/>
          <p:cNvSpPr txBox="1"/>
          <p:nvPr/>
        </p:nvSpPr>
        <p:spPr>
          <a:xfrm>
            <a:off x="7438750" y="1299380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Confusion Matrix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90" name="Google Shape;190;p21" title="Figure_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0625" y="1900725"/>
            <a:ext cx="4498306" cy="337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814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319200" y="1933908"/>
            <a:ext cx="115536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100" u="none" cap="none" strike="noStrike">
                <a:solidFill>
                  <a:srgbClr val="00F2FF"/>
                </a:solidFill>
                <a:latin typeface="Space Mono"/>
                <a:ea typeface="Space Mono"/>
                <a:cs typeface="Space Mono"/>
                <a:sym typeface="Space Mono"/>
              </a:rPr>
              <a:t>Grazie per l'attenzione</a:t>
            </a:r>
            <a:endParaRPr sz="5700"/>
          </a:p>
        </p:txBody>
      </p:sp>
      <p:sp>
        <p:nvSpPr>
          <p:cNvPr id="197" name="Google Shape;197;p22"/>
          <p:cNvSpPr txBox="1"/>
          <p:nvPr/>
        </p:nvSpPr>
        <p:spPr>
          <a:xfrm>
            <a:off x="2161200" y="3511200"/>
            <a:ext cx="78696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42" u="none" cap="none" strike="noStrike">
                <a:solidFill>
                  <a:srgbClr val="DEFF9A"/>
                </a:solidFill>
                <a:latin typeface="Space Mono"/>
                <a:ea typeface="Space Mono"/>
                <a:cs typeface="Space Mono"/>
                <a:sym typeface="Space Mono"/>
              </a:rPr>
              <a:t>Candidato: Francesco </a:t>
            </a:r>
            <a:r>
              <a:rPr lang="en-US" sz="3442">
                <a:solidFill>
                  <a:srgbClr val="DEFF9A"/>
                </a:solidFill>
                <a:latin typeface="Space Mono"/>
                <a:ea typeface="Space Mono"/>
                <a:cs typeface="Space Mono"/>
                <a:sym typeface="Space Mono"/>
              </a:rPr>
              <a:t>Trani</a:t>
            </a:r>
            <a:endParaRPr sz="3279"/>
          </a:p>
        </p:txBody>
      </p:sp>
      <p:sp>
        <p:nvSpPr>
          <p:cNvPr id="198" name="Google Shape;198;p22"/>
          <p:cNvSpPr txBox="1"/>
          <p:nvPr/>
        </p:nvSpPr>
        <p:spPr>
          <a:xfrm>
            <a:off x="2161200" y="4208794"/>
            <a:ext cx="78696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42" u="none" cap="none" strike="noStrike">
                <a:solidFill>
                  <a:srgbClr val="CBD5E1"/>
                </a:solidFill>
                <a:latin typeface="Space Mono"/>
                <a:ea typeface="Space Mono"/>
                <a:cs typeface="Space Mono"/>
                <a:sym typeface="Space Mono"/>
              </a:rPr>
              <a:t>Docent</a:t>
            </a:r>
            <a:r>
              <a:rPr lang="en-US" sz="3442">
                <a:solidFill>
                  <a:srgbClr val="CBD5E1"/>
                </a:solidFill>
                <a:latin typeface="Space Mono"/>
                <a:ea typeface="Space Mono"/>
                <a:cs typeface="Space Mono"/>
                <a:sym typeface="Space Mono"/>
              </a:rPr>
              <a:t>e</a:t>
            </a:r>
            <a:r>
              <a:rPr b="0" i="0" lang="en-US" sz="3442" u="none" cap="none" strike="noStrike">
                <a:solidFill>
                  <a:srgbClr val="CBD5E1"/>
                </a:solidFill>
                <a:latin typeface="Space Mono"/>
                <a:ea typeface="Space Mono"/>
                <a:cs typeface="Space Mono"/>
                <a:sym typeface="Space Mono"/>
              </a:rPr>
              <a:t>: Gabriella Casalino</a:t>
            </a:r>
            <a:endParaRPr sz="3279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